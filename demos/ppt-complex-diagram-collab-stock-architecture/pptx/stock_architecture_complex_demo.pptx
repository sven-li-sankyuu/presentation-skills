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D4A"/>
                </a:solidFill>
              </a:defRPr>
            </a:pPr>
            <a:r>
              <a:t>Frame-based Equity Intelligence &amp; Execution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389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Data -&gt; Representation -&gt; Portfolio -&gt; Execution -&gt; Attribution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3807440" cy="1463040"/>
          </a:xfrm>
          <a:prstGeom prst="roundRect">
            <a:avLst/>
          </a:prstGeom>
          <a:solidFill>
            <a:srgbClr val="E0E9FC"/>
          </a:solidFill>
          <a:ln w="1270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380744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L1 Data Acquisition &amp; Quality</a:t>
            </a:r>
          </a:p>
        </p:txBody>
      </p:sp>
      <p:sp>
        <p:nvSpPr>
          <p:cNvPr id="6" name="l1_n0"/>
          <p:cNvSpPr/>
          <p:nvPr/>
        </p:nvSpPr>
        <p:spPr>
          <a:xfrm>
            <a:off x="640080" y="1371600"/>
            <a:ext cx="3191256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C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Market Data Lake</a:t>
            </a:r>
          </a:p>
        </p:txBody>
      </p:sp>
      <p:sp>
        <p:nvSpPr>
          <p:cNvPr id="7" name="l1_n1"/>
          <p:cNvSpPr/>
          <p:nvPr/>
        </p:nvSpPr>
        <p:spPr>
          <a:xfrm>
            <a:off x="3977639" y="1371600"/>
            <a:ext cx="3191256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C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Alt Data Hub</a:t>
            </a:r>
          </a:p>
        </p:txBody>
      </p:sp>
      <p:sp>
        <p:nvSpPr>
          <p:cNvPr id="8" name="l1_n2"/>
          <p:cNvSpPr/>
          <p:nvPr/>
        </p:nvSpPr>
        <p:spPr>
          <a:xfrm>
            <a:off x="7315200" y="1371600"/>
            <a:ext cx="3191256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C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Corporate Events</a:t>
            </a:r>
          </a:p>
        </p:txBody>
      </p:sp>
      <p:sp>
        <p:nvSpPr>
          <p:cNvPr id="9" name="l1_n3"/>
          <p:cNvSpPr/>
          <p:nvPr/>
        </p:nvSpPr>
        <p:spPr>
          <a:xfrm>
            <a:off x="10652759" y="1371600"/>
            <a:ext cx="3191256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C8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Quality</a:t>
            </a:r>
          </a:p>
          <a:p>
            <a:r>
              <a:t>&amp; Lineage Gate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995160" y="2441448"/>
            <a:ext cx="640080" cy="12801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11480" y="2569464"/>
            <a:ext cx="13807440" cy="1463040"/>
          </a:xfrm>
          <a:prstGeom prst="roundRect">
            <a:avLst/>
          </a:prstGeom>
          <a:solidFill>
            <a:srgbClr val="DEF5ED"/>
          </a:solidFill>
          <a:ln w="12700">
            <a:solidFill>
              <a:srgbClr val="7CD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11480" y="2569464"/>
            <a:ext cx="13807440" cy="29260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192638"/>
                </a:solidFill>
              </a:defRPr>
            </a:pPr>
            <a:r>
              <a:t>L2 Representation &amp; Signal Factory</a:t>
            </a:r>
          </a:p>
        </p:txBody>
      </p:sp>
      <p:sp>
        <p:nvSpPr>
          <p:cNvPr id="13" name="l2_n0"/>
          <p:cNvSpPr/>
          <p:nvPr/>
        </p:nvSpPr>
        <p:spPr>
          <a:xfrm>
            <a:off x="640080" y="2980944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Feature Store</a:t>
            </a:r>
          </a:p>
        </p:txBody>
      </p:sp>
      <p:sp>
        <p:nvSpPr>
          <p:cNvPr id="14" name="l2_n1"/>
          <p:cNvSpPr/>
          <p:nvPr/>
        </p:nvSpPr>
        <p:spPr>
          <a:xfrm>
            <a:off x="3310128" y="2980944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Factor Engine</a:t>
            </a:r>
          </a:p>
        </p:txBody>
      </p:sp>
      <p:sp>
        <p:nvSpPr>
          <p:cNvPr id="15" name="l2_n2"/>
          <p:cNvSpPr/>
          <p:nvPr/>
        </p:nvSpPr>
        <p:spPr>
          <a:xfrm>
            <a:off x="5980176" y="2980944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Regime Detector</a:t>
            </a:r>
          </a:p>
        </p:txBody>
      </p:sp>
      <p:sp>
        <p:nvSpPr>
          <p:cNvPr id="16" name="l2_n3"/>
          <p:cNvSpPr/>
          <p:nvPr/>
        </p:nvSpPr>
        <p:spPr>
          <a:xfrm>
            <a:off x="8650224" y="2980944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Signal Blender</a:t>
            </a:r>
          </a:p>
        </p:txBody>
      </p:sp>
      <p:sp>
        <p:nvSpPr>
          <p:cNvPr id="17" name="l2_n4"/>
          <p:cNvSpPr/>
          <p:nvPr/>
        </p:nvSpPr>
        <p:spPr>
          <a:xfrm>
            <a:off x="11320272" y="2980944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Model Registry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995160" y="4050791"/>
            <a:ext cx="640080" cy="12801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11480" y="4178808"/>
            <a:ext cx="13807440" cy="1463040"/>
          </a:xfrm>
          <a:prstGeom prst="roundRect">
            <a:avLst/>
          </a:prstGeom>
          <a:solidFill>
            <a:srgbClr val="FEF1DD"/>
          </a:solidFill>
          <a:ln w="12700">
            <a:solidFill>
              <a:srgbClr val="FACA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1480" y="4178808"/>
            <a:ext cx="13807440" cy="29260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192638"/>
                </a:solidFill>
              </a:defRPr>
            </a:pPr>
            <a:r>
              <a:t>L3 Portfolio Construction &amp; Risk</a:t>
            </a:r>
          </a:p>
        </p:txBody>
      </p:sp>
      <p:sp>
        <p:nvSpPr>
          <p:cNvPr id="21" name="l3_n0"/>
          <p:cNvSpPr/>
          <p:nvPr/>
        </p:nvSpPr>
        <p:spPr>
          <a:xfrm>
            <a:off x="640080" y="4590288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8B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Constraint</a:t>
            </a:r>
          </a:p>
          <a:p>
            <a:r>
              <a:t>Compiler</a:t>
            </a:r>
          </a:p>
        </p:txBody>
      </p:sp>
      <p:sp>
        <p:nvSpPr>
          <p:cNvPr id="22" name="l3_n1"/>
          <p:cNvSpPr/>
          <p:nvPr/>
        </p:nvSpPr>
        <p:spPr>
          <a:xfrm>
            <a:off x="3310128" y="4590288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8B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Robust Optimizer</a:t>
            </a:r>
          </a:p>
        </p:txBody>
      </p:sp>
      <p:sp>
        <p:nvSpPr>
          <p:cNvPr id="23" name="l3_n2"/>
          <p:cNvSpPr/>
          <p:nvPr/>
        </p:nvSpPr>
        <p:spPr>
          <a:xfrm>
            <a:off x="5980176" y="4590288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8B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Risk</a:t>
            </a:r>
          </a:p>
          <a:p>
            <a:r>
              <a:t>Scenario Lab</a:t>
            </a:r>
          </a:p>
        </p:txBody>
      </p:sp>
      <p:sp>
        <p:nvSpPr>
          <p:cNvPr id="24" name="l3_n3"/>
          <p:cNvSpPr/>
          <p:nvPr/>
        </p:nvSpPr>
        <p:spPr>
          <a:xfrm>
            <a:off x="8650224" y="4590288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8B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Capacity</a:t>
            </a:r>
          </a:p>
          <a:p>
            <a:r>
              <a:t>&amp; Cost Model</a:t>
            </a:r>
          </a:p>
        </p:txBody>
      </p:sp>
      <p:sp>
        <p:nvSpPr>
          <p:cNvPr id="25" name="l3_n4"/>
          <p:cNvSpPr/>
          <p:nvPr/>
        </p:nvSpPr>
        <p:spPr>
          <a:xfrm>
            <a:off x="11320272" y="4590288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8B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Compliance Rules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995160" y="5660136"/>
            <a:ext cx="640080" cy="12801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11480" y="5788152"/>
            <a:ext cx="13807440" cy="1463040"/>
          </a:xfrm>
          <a:prstGeom prst="roundRect">
            <a:avLst/>
          </a:prstGeom>
          <a:solidFill>
            <a:srgbClr val="EDE3FC"/>
          </a:solidFill>
          <a:ln w="12700">
            <a:solidFill>
              <a:srgbClr val="B79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1480" y="5788152"/>
            <a:ext cx="13807440" cy="29260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L4 Execution &amp; Attribution</a:t>
            </a:r>
          </a:p>
        </p:txBody>
      </p:sp>
      <p:sp>
        <p:nvSpPr>
          <p:cNvPr id="29" name="l4_n0"/>
          <p:cNvSpPr/>
          <p:nvPr/>
        </p:nvSpPr>
        <p:spPr>
          <a:xfrm>
            <a:off x="640080" y="6199632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6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Execution Router</a:t>
            </a:r>
          </a:p>
        </p:txBody>
      </p:sp>
      <p:sp>
        <p:nvSpPr>
          <p:cNvPr id="30" name="l4_n1"/>
          <p:cNvSpPr/>
          <p:nvPr/>
        </p:nvSpPr>
        <p:spPr>
          <a:xfrm>
            <a:off x="3310128" y="6199632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6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Broker Simulator</a:t>
            </a:r>
          </a:p>
        </p:txBody>
      </p:sp>
      <p:sp>
        <p:nvSpPr>
          <p:cNvPr id="31" name="l4_n2"/>
          <p:cNvSpPr/>
          <p:nvPr/>
        </p:nvSpPr>
        <p:spPr>
          <a:xfrm>
            <a:off x="5980176" y="6199632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6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TCA Monitor</a:t>
            </a:r>
          </a:p>
        </p:txBody>
      </p:sp>
      <p:sp>
        <p:nvSpPr>
          <p:cNvPr id="32" name="l4_n3"/>
          <p:cNvSpPr/>
          <p:nvPr/>
        </p:nvSpPr>
        <p:spPr>
          <a:xfrm>
            <a:off x="8650224" y="6199632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6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PnL Attribution</a:t>
            </a:r>
          </a:p>
        </p:txBody>
      </p:sp>
      <p:sp>
        <p:nvSpPr>
          <p:cNvPr id="33" name="l4_n4"/>
          <p:cNvSpPr/>
          <p:nvPr/>
        </p:nvSpPr>
        <p:spPr>
          <a:xfrm>
            <a:off x="11320272" y="6199632"/>
            <a:ext cx="2523744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6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Feedback</a:t>
            </a:r>
          </a:p>
          <a:p>
            <a:r>
              <a:t>Scheduler</a:t>
            </a:r>
          </a:p>
        </p:txBody>
      </p:sp>
      <p:sp>
        <p:nvSpPr>
          <p:cNvPr id="34" name="role_researcher"/>
          <p:cNvSpPr/>
          <p:nvPr/>
        </p:nvSpPr>
        <p:spPr>
          <a:xfrm>
            <a:off x="502920" y="7498079"/>
            <a:ext cx="2057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Researcher</a:t>
            </a:r>
          </a:p>
        </p:txBody>
      </p:sp>
      <p:sp>
        <p:nvSpPr>
          <p:cNvPr id="35" name="role_pm"/>
          <p:cNvSpPr/>
          <p:nvPr/>
        </p:nvSpPr>
        <p:spPr>
          <a:xfrm>
            <a:off x="2743200" y="7498079"/>
            <a:ext cx="1280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PM</a:t>
            </a:r>
          </a:p>
        </p:txBody>
      </p:sp>
      <p:sp>
        <p:nvSpPr>
          <p:cNvPr id="36" name="role_risk"/>
          <p:cNvSpPr/>
          <p:nvPr/>
        </p:nvSpPr>
        <p:spPr>
          <a:xfrm>
            <a:off x="4251960" y="7498079"/>
            <a:ext cx="14630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192638"/>
                </a:solidFill>
              </a:defRPr>
            </a:pPr>
            <a:r>
              <a:t>Risk</a:t>
            </a:r>
          </a:p>
        </p:txBody>
      </p:sp>
      <p:sp>
        <p:nvSpPr>
          <p:cNvPr id="37" name="Chevron 36"/>
          <p:cNvSpPr/>
          <p:nvPr/>
        </p:nvSpPr>
        <p:spPr>
          <a:xfrm>
            <a:off x="6035040" y="7498079"/>
            <a:ext cx="2743200" cy="566928"/>
          </a:xfrm>
          <a:prstGeom prst="chevron">
            <a:avLst/>
          </a:prstGeom>
          <a:solidFill>
            <a:srgbClr val="E2E8F0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000">
                <a:solidFill>
                  <a:srgbClr val="192638"/>
                </a:solidFill>
              </a:defRPr>
            </a:pPr>
            <a:r>
              <a:t>Human-in-the-loop -&gt; Governance</a:t>
            </a:r>
          </a:p>
        </p:txBody>
      </p:sp>
      <p:sp>
        <p:nvSpPr>
          <p:cNvPr id="38" name="Chevron 37"/>
          <p:cNvSpPr/>
          <p:nvPr/>
        </p:nvSpPr>
        <p:spPr>
          <a:xfrm>
            <a:off x="9006840" y="7498079"/>
            <a:ext cx="5212080" cy="566928"/>
          </a:xfrm>
          <a:prstGeom prst="chevron">
            <a:avLst/>
          </a:prstGeom>
          <a:solidFill>
            <a:srgbClr val="E2E8F0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000">
                <a:solidFill>
                  <a:srgbClr val="192638"/>
                </a:solidFill>
              </a:defRPr>
            </a:pPr>
            <a:r>
              <a:t>Model Registry / Audit / Reproducibility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